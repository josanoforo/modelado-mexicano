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Benchmark del Mexicano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Modelado Mexicano · Psicología del Mexicano Contemporáneo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1/10 · 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Lo que la gente dijo en la última encuesta oficial de México, por segmento, con intervalo — y la prueba pública de si un modelo la predice mejor que repetir la ola anterior.</a:t>
            </a:r>
          </a:p>
          <a:p>
            <a:pPr>
              <a:defRPr sz="1600"/>
            </a:pPr>
            <a:r>
              <a:t>324 corridas selladas · 65 480 estimadores en el catálogo v1.4 · 128 RESULT GEN2 adoptados activos por consumidores del motor.</a:t>
            </a:r>
          </a:p>
          <a:p>
            <a:pPr>
              <a:defRPr sz="1600"/>
            </a:pPr>
            <a:r>
              <a:t>Los retadores evaluados no superaron los criterios de superioridad fijados en las comparaciones citadas. Esto no declara equivalencia ni se extiende a modelos nunca evaluados.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2/10 · Seis evaluaciones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Piloto ahorro, localidad × edad (ENIF 2024) — SIN-CANDIDATO-SUPERIOR.</a:t>
            </a:r>
          </a:p>
          <a:p>
            <a:pPr>
              <a:defRPr sz="1600"/>
            </a:pPr>
            <a:r>
              <a:t>Piloto evasión, escolaridad × dominio (ENVIPE 2025) — SIN-CANDIDATO-SUPERIOR.</a:t>
            </a:r>
          </a:p>
          <a:p>
            <a:pPr>
              <a:defRPr sz="1600"/>
            </a:pPr>
            <a:r>
              <a:t>Piloto gobierno digital, edad × escolaridad (ENCIG 2025) — FALSADOR-DÉBIL: 3/15 celdas a favor del retador, ΔMAE 1.465 pp IC95 [0.439, 2.115] — el IC no despeja el umbral de 0.5 pp fijado antes de abrir el dato.</a:t>
            </a:r>
          </a:p>
          <a:p>
            <a:pPr>
              <a:defRPr sz="1600"/>
            </a:pPr>
            <a:r>
              <a:t>Lote de interacción, 44 celdas puntuadas (ENIF 2024) — PROPUESTA-CON-RESERVA.</a:t>
            </a:r>
          </a:p>
          <a:p>
            <a:pPr>
              <a:defRPr sz="1600"/>
            </a:pPr>
            <a:r>
              <a:t>Duelo de ola nueva (ENVIPE 2026) — NADIE-VENCE en ambos cruces.</a:t>
            </a:r>
          </a:p>
          <a:p>
            <a:pPr>
              <a:defRPr sz="1600"/>
            </a:pPr>
            <a:r>
              <a:t>Duelo de candidatos (ENCIG 2025) — FALSADOR-DÉBIL agregado.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3/10 · Corroboración externa (fuera de México)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Corea, Korea Media Panel Survey de KISDI (Kim y Cho, arXiv:2608.28615, jul/2026): sobre seis indicadores comunes, persistir la ola previa erró 3.7 pp frente a 7.0–7.5 pp de los paneles sintéticos ya calibrados. La corrección no se trasladó entre olas.</a:t>
            </a:r>
          </a:p>
          <a:p>
            <a:pPr>
              <a:defRPr sz="1600"/>
            </a:pPr>
            <a:r>
              <a:t>Tres países, seis baterías multirrespuesta (Doudkin, arXiv:2609.07305, sep/2026): recitar la tabla nacional (piso descriptivo) erró 4.85 pp frente a 6.08–12.14 pp de los modelos por celda.</a:t>
            </a:r>
          </a:p>
          <a:p>
            <a:pPr>
              <a:defRPr sz="1600"/>
            </a:pPr>
            <a:r>
              <a:t>Ninguno de los dos estudios usa un instrumento mexicano ni nuestras unidades (delito, trámite, hogar): es corroboración del método — la persistencia como piso difícil de vencer — no evidencia sobre México.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4/10 · Qué cubre el corpus y el catálogo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31 reports temáticos de evidencia en el corpus — documentos, no dominios mutuamente excluyentes.</a:t>
            </a:r>
          </a:p>
          <a:p>
            <a:pPr>
              <a:defRPr sz="1600"/>
            </a:pPr>
            <a:r>
              <a:t>Catálogo v1.4: 65 480 estimadores con RESULT sellado, en 21 de los 28 dominios del mapa; todos descriptivos, casi todos retrospectivos, cada uno con su firma o el bloque de adopción citado.</a:t>
            </a:r>
          </a:p>
          <a:p>
            <a:pPr>
              <a:defRPr sz="1600"/>
            </a:pPr>
            <a:r>
              <a:t>Esta semana: 1 722 filas de 16 CALC entran por bloque (el merge de mesa es la adopción), con reserva de ancho; 22 filas quedan suspendidas por validación ciega o por firma, rotuladas y sin borrar.</a:t>
            </a:r>
          </a:p>
          <a:p>
            <a:pPr>
              <a:defRPr sz="1600"/>
            </a:pPr>
            <a:r>
              <a:t>7 dominios del mapa siguen sin estimador (genética, genómica, humor, interacción, emociones morales, juventud, duelo): «nadie corrió» o «hace falta adquirir», no «no se puede».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5/10 · Segmentación y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No tratamos a los mexicanos como bloque homogéneo: toda cifra se segmenta por región, clase, edad, género, escolaridad, urbanización, religiosidad, migración y exposición global.</a:t>
            </a:r>
          </a:p>
          <a:p>
            <a:pPr>
              <a:defRPr sz="1600"/>
            </a:pPr>
            <a:r>
              <a:t>El sesgo que más muerde es de clase dentro de la modernidad — sobre-muestreo del clasemediero urbano formal — y se declara al lado de cada cifra, no se esconde.</a:t>
            </a:r>
          </a:p>
          <a:p>
            <a:pPr>
              <a:defRPr sz="1600"/>
            </a:pPr>
            <a:r>
              <a:t>El sistema indígena-comunal vivo es otro orden institucional: queda fuera por diseño. La huella indígena difusa sí se mapea.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6/10 · Dónde ganan los otros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Informe de competencia propio (23/sep/2026, 33 actores revisados): nadie publica para México las tres propiedades juntas — validación prospectiva sellada, cobertura de intervalo medida y persistencia como piso de comparación.</a:t>
            </a:r>
          </a:p>
          <a:p>
            <a:pPr>
              <a:defRPr sz="1600"/>
            </a:pPr>
            <a:r>
              <a:t>YouGov Parallax gana en alcance: responde cualquier pregunta nueva con un panel de 30M+ y entrega en 30 minutos. Le falta sellar predicciones antes de la ola; valida contra humanos en vivo, no ex ante.</a:t>
            </a:r>
          </a:p>
          <a:p>
            <a:pPr>
              <a:defRPr sz="1600"/>
            </a:pPr>
            <a:r>
              <a:t>Gallup–Simile gana en capital y pedigrí (Serie B, US$200M): panel probabilístico y validador institucional. Le falta publicar resultados; es solo EE. UU. y no es prospectivo por olas.</a:t>
            </a:r>
          </a:p>
          <a:p>
            <a:pPr>
              <a:defRPr sz="1600"/>
            </a:pPr>
            <a:r>
              <a:t>Matria AI (Celestial Dynamics) gana en granularidad geográfica (manzana/AGEB con INEGI/DENUE + NSE AMAI) y producto comercial vivo. Le falta toda validación conductual publicada.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7/10 · Sellado y verificación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Cada RESULT tiene su CALC: spec.yaml, resultados.json, sello.json con hash — verificable con sha256sum sin abrir microdato.</a:t>
            </a:r>
          </a:p>
          <a:p>
            <a:pPr>
              <a:defRPr sz="1600"/>
            </a:pPr>
            <a:r>
              <a:t>344 sellos en el manifiesto externo, con testigo de tiempo: OpenTimestamps o TSA cuando hay egress; firma GPG del merge y tag de mesa cuando la sesión no tuvo salida a red — demuestra existencia-antes-de, no autoría.</a:t>
            </a:r>
          </a:p>
          <a:p>
            <a:pPr>
              <a:defRPr sz="1600"/>
            </a:pPr>
            <a:r>
              <a:t>La validación independiente recalcula desde la spec humana, el cuestionario y el descriptor, sin leer el código que produjo la cifra, y commitea sus números antes de abrir los sellados.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8/10 · Reto público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La tabla de piso v1.3 publica 65 314 filas — la línea que un retador tiene que vencer, derivada del catálogo por comando, no editada a mano; los contrastes de momento no son línea a vencer.</a:t>
            </a:r>
          </a:p>
          <a:p>
            <a:pPr>
              <a:defRPr sz="1600"/>
            </a:pPr>
            <a:r>
              <a:t>Regla: diferencia de error medio (ΔMAE) con IC por réplica, umbral fijado antes de abrir el dato. Vence si el IC despeja el umbral; propuesta con reserva si despeja 0 y no el umbral; nadie vence si incluye 0.</a:t>
            </a:r>
          </a:p>
          <a:p>
            <a:pPr>
              <a:defRPr sz="1600"/>
            </a:pPr>
            <a:r>
              <a:t>Se entrega con spec pre-registrada por PR, antes de que exista el árbitro de la ola. Se invita por escrito a Toluna, ThinkNow, Matria/Celestial y YouGov; cualquier equipo puede participar por la misma vía.</a:t>
            </a:r>
          </a:p>
          <a:p>
            <a:pPr>
              <a:defRPr sz="1600"/>
            </a:pPr>
            <a:r>
              <a:t>Sin promesas de adopción: el reto mide, mesa decide.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9/10 · Qué viene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Frente prospectivo: las familias 2027 se sellan antes de que INEGI publique la ola; hasta entonces el programa no afirma nada prospectivo sobre ellas.</a:t>
            </a:r>
          </a:p>
          <a:p>
            <a:pPr>
              <a:defRPr sz="1600"/>
            </a:pPr>
            <a:r>
              <a:t>Reglas SI-ENTONCES: un bloque de adopción condicional al criterio de CONFIRMA que decide mesa; ninguna regla adoptada todavía.</a:t>
            </a:r>
          </a:p>
          <a:p>
            <a:pPr>
              <a:defRPr sz="1600"/>
            </a:pPr>
            <a:r>
              <a:t>DOI vía Zenodo y activación de GitHub Pages: decisión de mesa, pendiente en este corte.</a:t>
            </a:r>
          </a:p>
          <a:p>
            <a:pPr>
              <a:defRPr sz="1600"/>
            </a:pPr>
            <a:r>
              <a:t>Primeras entregas del reto público, conforme lleguen los PR con spec pre-registrada.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10/10 · Licencia, cita y 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LICENSE: MIT para el código, CC BY-NC-SA 4.0 para corpus y documentación, con excepciones expresas para ciertos usos comerciales del corpus.</a:t>
            </a:r>
          </a:p>
          <a:p>
            <a:pPr>
              <a:defRPr sz="1600"/>
            </a:pPr>
            <a:r>
              <a:t>Uso comercial fuera de esas excepciones: escribe a jonieqsa@gmail.com.</a:t>
            </a:r>
          </a:p>
          <a:p>
            <a:pPr>
              <a:defRPr sz="1600"/>
            </a:pPr>
            <a:r>
              <a:t>Cita con CITATION.cff. DOI: pendiente (Zenodo, activación de mesa).</a:t>
            </a:r>
          </a:p>
          <a:p>
            <a:pPr>
              <a:defRPr sz="1600"/>
            </a:pPr>
            <a:r>
              <a:t>one-pager · docs/verificar.md · docs/reto.md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